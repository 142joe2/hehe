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p:spPr>
      </p:sp>
      <p:sp>
        <p:nvSpPr>
          <p:cNvPr id="3" name="Shape 1"/>
          <p:cNvSpPr/>
          <p:nvPr/>
        </p:nvSpPr>
        <p:spPr>
          <a:xfrm>
            <a:off x="0" y="0"/>
            <a:ext cx="14630400" cy="8229600"/>
          </a:xfrm>
          <a:prstGeom prst="rect">
            <a:avLst/>
          </a:prstGeom>
          <a:solidFill>
            <a:srgbClr val="FFFFFF"/>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075492"/>
            <a:ext cx="7556421" cy="2835116"/>
          </a:xfrm>
          <a:prstGeom prst="rect">
            <a:avLst/>
          </a:prstGeom>
          <a:noFill/>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A Comparative Study of QEMU and Microsoft Azure in Virtualization Technologies</a:t>
            </a:r>
            <a:endParaRPr lang="en-US" sz="4450" dirty="0"/>
          </a:p>
        </p:txBody>
      </p:sp>
      <p:sp>
        <p:nvSpPr>
          <p:cNvPr id="4" name="Text 1"/>
          <p:cNvSpPr/>
          <p:nvPr/>
        </p:nvSpPr>
        <p:spPr>
          <a:xfrm>
            <a:off x="793790" y="4250769"/>
            <a:ext cx="7556421" cy="2903220"/>
          </a:xfrm>
          <a:prstGeom prst="rect">
            <a:avLst/>
          </a:prstGeom>
          <a:noFill/>
        </p:spPr>
        <p:txBody>
          <a:bodyPr wrap="square" lIns="0" tIns="0" rIns="0" bIns="0" rtlCol="0" anchor="t"/>
          <a:lstStyle/>
          <a:p>
            <a:pPr marL="0" indent="0" algn="ctr">
              <a:lnSpc>
                <a:spcPts val="2850"/>
              </a:lnSpc>
              <a:buNone/>
            </a:pPr>
            <a:r>
              <a:rPr lang="en-US" sz="1750" b="1" dirty="0">
                <a:solidFill>
                  <a:srgbClr val="272525"/>
                </a:solidFill>
                <a:latin typeface="Inter" pitchFamily="34" charset="0"/>
                <a:ea typeface="Inter" pitchFamily="34" charset="-122"/>
                <a:cs typeface="Inter" pitchFamily="34" charset="-120"/>
              </a:rPr>
              <a:t>MEMBERS:</a:t>
            </a:r>
            <a:br>
              <a:rPr lang="en-US" sz="1750" b="1" dirty="0">
                <a:solidFill>
                  <a:srgbClr val="272525"/>
                </a:solidFill>
                <a:latin typeface="Inter" pitchFamily="34" charset="0"/>
                <a:ea typeface="Inter" pitchFamily="34" charset="-122"/>
                <a:cs typeface="Inter" pitchFamily="34" charset="-120"/>
              </a:rPr>
            </a:br>
            <a:r>
              <a:rPr lang="en-US" sz="1750" b="1" dirty="0">
                <a:solidFill>
                  <a:srgbClr val="272525"/>
                </a:solidFill>
                <a:latin typeface="Inter" pitchFamily="34" charset="0"/>
                <a:ea typeface="Inter" pitchFamily="34" charset="-122"/>
                <a:cs typeface="Inter" pitchFamily="34" charset="-120"/>
              </a:rPr>
              <a:t>Cabanos, Rodel E.</a:t>
            </a:r>
            <a:br>
              <a:rPr lang="en-US" sz="1750" b="1" dirty="0">
                <a:solidFill>
                  <a:srgbClr val="272525"/>
                </a:solidFill>
                <a:latin typeface="Inter" pitchFamily="34" charset="0"/>
                <a:ea typeface="Inter" pitchFamily="34" charset="-122"/>
                <a:cs typeface="Inter" pitchFamily="34" charset="-120"/>
              </a:rPr>
            </a:br>
            <a:r>
              <a:rPr lang="en-US" sz="1750" b="1" dirty="0">
                <a:solidFill>
                  <a:srgbClr val="272525"/>
                </a:solidFill>
                <a:latin typeface="Inter" pitchFamily="34" charset="0"/>
                <a:ea typeface="Inter" pitchFamily="34" charset="-122"/>
                <a:cs typeface="Inter" pitchFamily="34" charset="-120"/>
              </a:rPr>
              <a:t>Cristobal, Dee Jay B</a:t>
            </a:r>
            <a:br>
              <a:rPr lang="en-US" sz="1750" b="1" dirty="0">
                <a:solidFill>
                  <a:srgbClr val="272525"/>
                </a:solidFill>
                <a:latin typeface="Inter" pitchFamily="34" charset="0"/>
                <a:ea typeface="Inter" pitchFamily="34" charset="-122"/>
                <a:cs typeface="Inter" pitchFamily="34" charset="-120"/>
              </a:rPr>
            </a:br>
            <a:r>
              <a:rPr lang="en-US" sz="1750" b="1" dirty="0">
                <a:solidFill>
                  <a:srgbClr val="272525"/>
                </a:solidFill>
                <a:latin typeface="Inter" pitchFamily="34" charset="0"/>
                <a:ea typeface="Inter" pitchFamily="34" charset="-122"/>
                <a:cs typeface="Inter" pitchFamily="34" charset="-120"/>
              </a:rPr>
              <a:t>De Guzman, Marie Joy W.</a:t>
            </a:r>
            <a:br>
              <a:rPr lang="en-US" sz="1750" b="1" dirty="0">
                <a:solidFill>
                  <a:srgbClr val="272525"/>
                </a:solidFill>
                <a:latin typeface="Inter" pitchFamily="34" charset="0"/>
                <a:ea typeface="Inter" pitchFamily="34" charset="-122"/>
                <a:cs typeface="Inter" pitchFamily="34" charset="-120"/>
              </a:rPr>
            </a:br>
            <a:r>
              <a:rPr lang="en-US" sz="1750" b="1" dirty="0">
                <a:solidFill>
                  <a:srgbClr val="272525"/>
                </a:solidFill>
                <a:latin typeface="Inter" pitchFamily="34" charset="0"/>
                <a:ea typeface="Inter" pitchFamily="34" charset="-122"/>
                <a:cs typeface="Inter" pitchFamily="34" charset="-120"/>
              </a:rPr>
              <a:t>Donato, Charles Bobby Q.</a:t>
            </a:r>
            <a:br>
              <a:rPr lang="en-US" sz="1750" b="1" dirty="0">
                <a:solidFill>
                  <a:srgbClr val="272525"/>
                </a:solidFill>
                <a:latin typeface="Inter" pitchFamily="34" charset="0"/>
                <a:ea typeface="Inter" pitchFamily="34" charset="-122"/>
                <a:cs typeface="Inter" pitchFamily="34" charset="-120"/>
              </a:rPr>
            </a:br>
            <a:r>
              <a:rPr lang="en-US" sz="1750" b="1" dirty="0">
                <a:solidFill>
                  <a:srgbClr val="272525"/>
                </a:solidFill>
                <a:latin typeface="Inter" pitchFamily="34" charset="0"/>
                <a:ea typeface="Inter" pitchFamily="34" charset="-122"/>
                <a:cs typeface="Inter" pitchFamily="34" charset="-120"/>
              </a:rPr>
              <a:t>Nicolas, Earl Ivan P.</a:t>
            </a:r>
            <a:br>
              <a:rPr lang="en-US" sz="1750" b="1" dirty="0">
                <a:solidFill>
                  <a:srgbClr val="272525"/>
                </a:solidFill>
                <a:latin typeface="Inter" pitchFamily="34" charset="0"/>
                <a:ea typeface="Inter" pitchFamily="34" charset="-122"/>
                <a:cs typeface="Inter" pitchFamily="34" charset="-120"/>
              </a:rPr>
            </a:br>
            <a:r>
              <a:rPr lang="en-US" sz="1750" b="1" dirty="0">
                <a:solidFill>
                  <a:srgbClr val="272525"/>
                </a:solidFill>
                <a:latin typeface="Inter" pitchFamily="34" charset="0"/>
                <a:ea typeface="Inter" pitchFamily="34" charset="-122"/>
                <a:cs typeface="Inter" pitchFamily="34" charset="-120"/>
              </a:rPr>
              <a:t>Rotugal, Jasmine L.</a:t>
            </a:r>
            <a:br>
              <a:rPr lang="en-US" sz="1750" b="1" dirty="0">
                <a:solidFill>
                  <a:srgbClr val="272525"/>
                </a:solidFill>
                <a:latin typeface="Inter" pitchFamily="34" charset="0"/>
                <a:ea typeface="Inter" pitchFamily="34" charset="-122"/>
                <a:cs typeface="Inter" pitchFamily="34" charset="-120"/>
              </a:rPr>
            </a:br>
            <a:r>
              <a:rPr lang="en-US" sz="1750" b="1" dirty="0">
                <a:solidFill>
                  <a:srgbClr val="272525"/>
                </a:solidFill>
                <a:latin typeface="Inter" pitchFamily="34" charset="0"/>
                <a:ea typeface="Inter" pitchFamily="34" charset="-122"/>
                <a:cs typeface="Inter" pitchFamily="34" charset="-120"/>
              </a:rPr>
              <a:t>Vergara, Justin Von T.</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3538061"/>
            <a:ext cx="7940754" cy="708779"/>
          </a:xfrm>
          <a:prstGeom prst="rect">
            <a:avLst/>
          </a:prstGeom>
          <a:noFill/>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Introduction to Virtualization</a:t>
            </a:r>
            <a:endParaRPr lang="en-US" sz="4450" dirty="0"/>
          </a:p>
        </p:txBody>
      </p:sp>
      <p:sp>
        <p:nvSpPr>
          <p:cNvPr id="4" name="Text 1"/>
          <p:cNvSpPr/>
          <p:nvPr/>
        </p:nvSpPr>
        <p:spPr>
          <a:xfrm>
            <a:off x="793790" y="4813816"/>
            <a:ext cx="3132177" cy="354330"/>
          </a:xfrm>
          <a:prstGeom prst="rect">
            <a:avLst/>
          </a:prstGeom>
          <a:noFill/>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What is Virtualization?</a:t>
            </a:r>
            <a:endParaRPr lang="en-US" sz="2200" dirty="0"/>
          </a:p>
        </p:txBody>
      </p:sp>
      <p:sp>
        <p:nvSpPr>
          <p:cNvPr id="5" name="Text 2"/>
          <p:cNvSpPr/>
          <p:nvPr/>
        </p:nvSpPr>
        <p:spPr>
          <a:xfrm>
            <a:off x="793790" y="5394960"/>
            <a:ext cx="6244709" cy="1451610"/>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Creating software-based representations of computer resources (servers, storage, OS). Allows multiple virtual machines (VMs) on a single physical host, each independent, managed by a hypervisor.</a:t>
            </a:r>
            <a:endParaRPr lang="en-US" sz="1750" dirty="0"/>
          </a:p>
        </p:txBody>
      </p:sp>
      <p:sp>
        <p:nvSpPr>
          <p:cNvPr id="6" name="Text 3"/>
          <p:cNvSpPr/>
          <p:nvPr/>
        </p:nvSpPr>
        <p:spPr>
          <a:xfrm>
            <a:off x="7599521" y="4813816"/>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Why is it Important?</a:t>
            </a:r>
            <a:endParaRPr lang="en-US" sz="2200" dirty="0"/>
          </a:p>
        </p:txBody>
      </p:sp>
      <p:sp>
        <p:nvSpPr>
          <p:cNvPr id="7" name="Text 4"/>
          <p:cNvSpPr/>
          <p:nvPr/>
        </p:nvSpPr>
        <p:spPr>
          <a:xfrm>
            <a:off x="7599521" y="5394960"/>
            <a:ext cx="6244709" cy="725805"/>
          </a:xfrm>
          <a:prstGeom prst="rect">
            <a:avLst/>
          </a:prstGeom>
          <a:noFill/>
        </p:spPr>
        <p:txBody>
          <a:bodyPr wrap="squar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Reduces IT expenses by maximizing hardware utilization.</a:t>
            </a:r>
            <a:endParaRPr lang="en-US" sz="1750" dirty="0"/>
          </a:p>
        </p:txBody>
      </p:sp>
      <p:sp>
        <p:nvSpPr>
          <p:cNvPr id="8" name="Text 5"/>
          <p:cNvSpPr/>
          <p:nvPr/>
        </p:nvSpPr>
        <p:spPr>
          <a:xfrm>
            <a:off x="7599521" y="6200061"/>
            <a:ext cx="6244709" cy="362903"/>
          </a:xfrm>
          <a:prstGeom prst="rect">
            <a:avLst/>
          </a:prstGeom>
          <a:noFill/>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Improves efficiency, scalability, and flexibility.</a:t>
            </a:r>
            <a:endParaRPr lang="en-US" sz="1750" dirty="0"/>
          </a:p>
        </p:txBody>
      </p:sp>
      <p:sp>
        <p:nvSpPr>
          <p:cNvPr id="9" name="Text 6"/>
          <p:cNvSpPr/>
          <p:nvPr/>
        </p:nvSpPr>
        <p:spPr>
          <a:xfrm>
            <a:off x="7599521" y="6642259"/>
            <a:ext cx="6244709" cy="362903"/>
          </a:xfrm>
          <a:prstGeom prst="rect">
            <a:avLst/>
          </a:prstGeom>
          <a:noFill/>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Enables faster deployment and enhanced portability.</a:t>
            </a:r>
            <a:endParaRPr lang="en-US" sz="1750" dirty="0"/>
          </a:p>
        </p:txBody>
      </p:sp>
      <p:sp>
        <p:nvSpPr>
          <p:cNvPr id="10" name="Text 7"/>
          <p:cNvSpPr/>
          <p:nvPr/>
        </p:nvSpPr>
        <p:spPr>
          <a:xfrm>
            <a:off x="7599521" y="7084457"/>
            <a:ext cx="6244709" cy="362903"/>
          </a:xfrm>
          <a:prstGeom prst="rect">
            <a:avLst/>
          </a:prstGeom>
          <a:noFill/>
        </p:spPr>
        <p:txBody>
          <a:bodyPr wrap="non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Enhances security through isolation and snapshots.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66723" y="1267420"/>
            <a:ext cx="6992183" cy="607457"/>
          </a:xfrm>
          <a:prstGeom prst="rect">
            <a:avLst/>
          </a:prstGeom>
          <a:noFill/>
        </p:spPr>
        <p:txBody>
          <a:bodyPr wrap="none" lIns="0" tIns="0" rIns="0" bIns="0" rtlCol="0" anchor="t"/>
          <a:lstStyle/>
          <a:p>
            <a:pPr marL="0" indent="0" algn="l">
              <a:lnSpc>
                <a:spcPts val="4750"/>
              </a:lnSpc>
              <a:buNone/>
            </a:pPr>
            <a:r>
              <a:rPr lang="en-US" sz="3800" b="1" dirty="0">
                <a:solidFill>
                  <a:srgbClr val="000000"/>
                </a:solidFill>
                <a:latin typeface="Inter Bold" pitchFamily="34" charset="0"/>
                <a:ea typeface="Inter Bold" pitchFamily="34" charset="-122"/>
                <a:cs typeface="Inter Bold" pitchFamily="34" charset="-120"/>
              </a:rPr>
              <a:t>Overview of Virtual Platforms</a:t>
            </a:r>
            <a:endParaRPr lang="en-US" sz="3800" dirty="0"/>
          </a:p>
        </p:txBody>
      </p:sp>
      <p:sp>
        <p:nvSpPr>
          <p:cNvPr id="4" name="Text 1"/>
          <p:cNvSpPr/>
          <p:nvPr/>
        </p:nvSpPr>
        <p:spPr>
          <a:xfrm>
            <a:off x="6166723" y="2360652"/>
            <a:ext cx="2915722" cy="364450"/>
          </a:xfrm>
          <a:prstGeom prst="rect">
            <a:avLst/>
          </a:prstGeom>
          <a:noFill/>
        </p:spPr>
        <p:txBody>
          <a:bodyPr wrap="none" lIns="0" tIns="0" rIns="0" bIns="0" rtlCol="0" anchor="t"/>
          <a:lstStyle/>
          <a:p>
            <a:pPr marL="0" indent="0" algn="l">
              <a:lnSpc>
                <a:spcPts val="2850"/>
              </a:lnSpc>
              <a:buNone/>
            </a:pPr>
            <a:r>
              <a:rPr lang="en-US" sz="2250" b="1" dirty="0">
                <a:solidFill>
                  <a:srgbClr val="000000"/>
                </a:solidFill>
                <a:latin typeface="Inter Bold" pitchFamily="34" charset="0"/>
                <a:ea typeface="Inter Bold" pitchFamily="34" charset="-122"/>
                <a:cs typeface="Inter Bold" pitchFamily="34" charset="-120"/>
              </a:rPr>
              <a:t>QEMU Platform</a:t>
            </a:r>
            <a:endParaRPr lang="en-US" sz="2250" dirty="0"/>
          </a:p>
        </p:txBody>
      </p:sp>
      <p:sp>
        <p:nvSpPr>
          <p:cNvPr id="5" name="Text 2"/>
          <p:cNvSpPr/>
          <p:nvPr/>
        </p:nvSpPr>
        <p:spPr>
          <a:xfrm>
            <a:off x="6166723" y="2919413"/>
            <a:ext cx="3654623" cy="2176939"/>
          </a:xfrm>
          <a:prstGeom prst="rect">
            <a:avLst/>
          </a:prstGeom>
          <a:noFill/>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Open-source machine emulator and virtualizer. Allows OS/apps to run across different hardware. Valued for flexibility, free use, and power. Primarily command-line based, supports diverse architectures (x86, ARM, RISC-V).</a:t>
            </a:r>
            <a:endParaRPr lang="en-US" sz="1500" dirty="0"/>
          </a:p>
        </p:txBody>
      </p:sp>
      <p:sp>
        <p:nvSpPr>
          <p:cNvPr id="6" name="Text 3"/>
          <p:cNvSpPr/>
          <p:nvPr/>
        </p:nvSpPr>
        <p:spPr>
          <a:xfrm>
            <a:off x="6166723" y="5271254"/>
            <a:ext cx="3654623" cy="621983"/>
          </a:xfrm>
          <a:prstGeom prst="rect">
            <a:avLst/>
          </a:prstGeom>
          <a:noFill/>
        </p:spPr>
        <p:txBody>
          <a:bodyPr wrap="square" lIns="0" tIns="0" rIns="0" bIns="0" rtlCol="0" anchor="t"/>
          <a:lstStyle/>
          <a:p>
            <a:pPr marL="0" indent="0" algn="l">
              <a:lnSpc>
                <a:spcPts val="2400"/>
              </a:lnSpc>
              <a:buSzPct val="100000"/>
              <a:buNone/>
            </a:pPr>
            <a:r>
              <a:rPr lang="en-US" sz="1500" b="1" dirty="0">
                <a:solidFill>
                  <a:srgbClr val="272525"/>
                </a:solidFill>
                <a:latin typeface="Inter" pitchFamily="34" charset="0"/>
                <a:ea typeface="Inter" pitchFamily="34" charset="-122"/>
                <a:cs typeface="Inter" pitchFamily="34" charset="-120"/>
              </a:rPr>
              <a:t>Strengths:</a:t>
            </a:r>
            <a:r>
              <a:rPr lang="en-US" sz="1500" dirty="0">
                <a:solidFill>
                  <a:srgbClr val="272525"/>
                </a:solidFill>
                <a:latin typeface="Inter" pitchFamily="34" charset="0"/>
                <a:ea typeface="Inter" pitchFamily="34" charset="-122"/>
                <a:cs typeface="Inter" pitchFamily="34" charset="-120"/>
              </a:rPr>
              <a:t> Open-source, cost-free, architecture-flexible, offline use.</a:t>
            </a:r>
            <a:endParaRPr lang="en-US" sz="1500" dirty="0"/>
          </a:p>
        </p:txBody>
      </p:sp>
      <p:sp>
        <p:nvSpPr>
          <p:cNvPr id="7" name="Text 4"/>
          <p:cNvSpPr/>
          <p:nvPr/>
        </p:nvSpPr>
        <p:spPr>
          <a:xfrm>
            <a:off x="6166723" y="5961221"/>
            <a:ext cx="3654623" cy="932974"/>
          </a:xfrm>
          <a:prstGeom prst="rect">
            <a:avLst/>
          </a:prstGeom>
          <a:noFill/>
        </p:spPr>
        <p:txBody>
          <a:bodyPr wrap="square" lIns="0" tIns="0" rIns="0" bIns="0" rtlCol="0" anchor="t"/>
          <a:lstStyle/>
          <a:p>
            <a:pPr marL="0" indent="0" algn="l">
              <a:lnSpc>
                <a:spcPts val="2400"/>
              </a:lnSpc>
              <a:buSzPct val="100000"/>
              <a:buNone/>
            </a:pPr>
            <a:r>
              <a:rPr lang="en-US" sz="1500" b="1" dirty="0">
                <a:solidFill>
                  <a:srgbClr val="272525"/>
                </a:solidFill>
                <a:latin typeface="Inter" pitchFamily="34" charset="0"/>
                <a:ea typeface="Inter" pitchFamily="34" charset="-122"/>
                <a:cs typeface="Inter" pitchFamily="34" charset="-120"/>
              </a:rPr>
              <a:t>Limitations:</a:t>
            </a:r>
            <a:r>
              <a:rPr lang="en-US" sz="1500" dirty="0">
                <a:solidFill>
                  <a:srgbClr val="272525"/>
                </a:solidFill>
                <a:latin typeface="Inter" pitchFamily="34" charset="0"/>
                <a:ea typeface="Inter" pitchFamily="34" charset="-122"/>
                <a:cs typeface="Inter" pitchFamily="34" charset="-120"/>
              </a:rPr>
              <a:t> Steep learning curve, resource-intensive, command-line reliance.</a:t>
            </a:r>
            <a:endParaRPr lang="en-US" sz="1500" dirty="0"/>
          </a:p>
        </p:txBody>
      </p:sp>
      <p:sp>
        <p:nvSpPr>
          <p:cNvPr id="8" name="Text 5"/>
          <p:cNvSpPr/>
          <p:nvPr/>
        </p:nvSpPr>
        <p:spPr>
          <a:xfrm>
            <a:off x="10303073" y="2360652"/>
            <a:ext cx="3564493" cy="364450"/>
          </a:xfrm>
          <a:prstGeom prst="rect">
            <a:avLst/>
          </a:prstGeom>
          <a:noFill/>
        </p:spPr>
        <p:txBody>
          <a:bodyPr wrap="none" lIns="0" tIns="0" rIns="0" bIns="0" rtlCol="0" anchor="t"/>
          <a:lstStyle/>
          <a:p>
            <a:pPr marL="0" indent="0" algn="l">
              <a:lnSpc>
                <a:spcPts val="2850"/>
              </a:lnSpc>
              <a:buNone/>
            </a:pPr>
            <a:r>
              <a:rPr lang="en-US" sz="2250" b="1" dirty="0">
                <a:solidFill>
                  <a:srgbClr val="000000"/>
                </a:solidFill>
                <a:latin typeface="Inter Bold" pitchFamily="34" charset="0"/>
                <a:ea typeface="Inter Bold" pitchFamily="34" charset="-122"/>
                <a:cs typeface="Inter Bold" pitchFamily="34" charset="-120"/>
              </a:rPr>
              <a:t>Microsoft Azure Platform</a:t>
            </a:r>
            <a:endParaRPr lang="en-US" sz="2250" dirty="0"/>
          </a:p>
        </p:txBody>
      </p:sp>
      <p:sp>
        <p:nvSpPr>
          <p:cNvPr id="9" name="Text 6"/>
          <p:cNvSpPr/>
          <p:nvPr/>
        </p:nvSpPr>
        <p:spPr>
          <a:xfrm>
            <a:off x="10303073" y="2919413"/>
            <a:ext cx="3654623" cy="1865948"/>
          </a:xfrm>
          <a:prstGeom prst="rect">
            <a:avLst/>
          </a:prstGeom>
          <a:noFill/>
        </p:spPr>
        <p:txBody>
          <a:bodyPr wrap="square" lIns="0" tIns="0" rIns="0" bIns="0" rtlCol="0" anchor="t"/>
          <a:lstStyle/>
          <a:p>
            <a:pPr marL="0" indent="0" algn="l">
              <a:lnSpc>
                <a:spcPts val="2400"/>
              </a:lnSpc>
              <a:buNone/>
            </a:pPr>
            <a:r>
              <a:rPr lang="en-US" sz="1500" dirty="0">
                <a:solidFill>
                  <a:srgbClr val="272525"/>
                </a:solidFill>
                <a:latin typeface="Inter" pitchFamily="34" charset="0"/>
                <a:ea typeface="Inter" pitchFamily="34" charset="-122"/>
                <a:cs typeface="Inter" pitchFamily="34" charset="-120"/>
              </a:rPr>
              <a:t>Cloud-based virtual machines hosted in Microsoft's global data centers. Offers scalable, managed resources through subscription. Integrated with cloud services, with Microsoft managing security and scalability.</a:t>
            </a:r>
            <a:endParaRPr lang="en-US" sz="1500" dirty="0"/>
          </a:p>
        </p:txBody>
      </p:sp>
      <p:sp>
        <p:nvSpPr>
          <p:cNvPr id="10" name="Text 7"/>
          <p:cNvSpPr/>
          <p:nvPr/>
        </p:nvSpPr>
        <p:spPr>
          <a:xfrm>
            <a:off x="10303073" y="4960263"/>
            <a:ext cx="3654623" cy="932974"/>
          </a:xfrm>
          <a:prstGeom prst="rect">
            <a:avLst/>
          </a:prstGeom>
          <a:noFill/>
        </p:spPr>
        <p:txBody>
          <a:bodyPr wrap="square" lIns="0" tIns="0" rIns="0" bIns="0" rtlCol="0" anchor="t"/>
          <a:lstStyle/>
          <a:p>
            <a:pPr marL="0" indent="0" algn="l">
              <a:lnSpc>
                <a:spcPts val="2400"/>
              </a:lnSpc>
              <a:buSzPct val="100000"/>
              <a:buNone/>
            </a:pPr>
            <a:r>
              <a:rPr lang="en-US" sz="1500" b="1" dirty="0">
                <a:solidFill>
                  <a:srgbClr val="272525"/>
                </a:solidFill>
                <a:latin typeface="Inter" pitchFamily="34" charset="0"/>
                <a:ea typeface="Inter" pitchFamily="34" charset="-122"/>
                <a:cs typeface="Inter" pitchFamily="34" charset="-120"/>
              </a:rPr>
              <a:t>Strengths:</a:t>
            </a:r>
            <a:r>
              <a:rPr lang="en-US" sz="1500" dirty="0">
                <a:solidFill>
                  <a:srgbClr val="272525"/>
                </a:solidFill>
                <a:latin typeface="Inter" pitchFamily="34" charset="0"/>
                <a:ea typeface="Inter" pitchFamily="34" charset="-122"/>
                <a:cs typeface="Inter" pitchFamily="34" charset="-120"/>
              </a:rPr>
              <a:t> Scalability, high availability, reduced hardware management, strong security.</a:t>
            </a:r>
            <a:endParaRPr lang="en-US" sz="1500" dirty="0"/>
          </a:p>
        </p:txBody>
      </p:sp>
      <p:sp>
        <p:nvSpPr>
          <p:cNvPr id="11" name="Text 8"/>
          <p:cNvSpPr/>
          <p:nvPr/>
        </p:nvSpPr>
        <p:spPr>
          <a:xfrm>
            <a:off x="10303073" y="5961221"/>
            <a:ext cx="3654623" cy="932974"/>
          </a:xfrm>
          <a:prstGeom prst="rect">
            <a:avLst/>
          </a:prstGeom>
          <a:noFill/>
        </p:spPr>
        <p:txBody>
          <a:bodyPr wrap="square" lIns="0" tIns="0" rIns="0" bIns="0" rtlCol="0" anchor="t"/>
          <a:lstStyle/>
          <a:p>
            <a:pPr marL="0" indent="0" algn="l">
              <a:lnSpc>
                <a:spcPts val="2400"/>
              </a:lnSpc>
              <a:buSzPct val="100000"/>
              <a:buNone/>
            </a:pPr>
            <a:r>
              <a:rPr lang="en-US" sz="1500" b="1" dirty="0">
                <a:solidFill>
                  <a:srgbClr val="272525"/>
                </a:solidFill>
                <a:latin typeface="Inter" pitchFamily="34" charset="0"/>
                <a:ea typeface="Inter" pitchFamily="34" charset="-122"/>
                <a:cs typeface="Inter" pitchFamily="34" charset="-120"/>
              </a:rPr>
              <a:t>Limitations:</a:t>
            </a:r>
            <a:r>
              <a:rPr lang="en-US" sz="1500" dirty="0">
                <a:solidFill>
                  <a:srgbClr val="272525"/>
                </a:solidFill>
                <a:latin typeface="Inter" pitchFamily="34" charset="0"/>
                <a:ea typeface="Inter" pitchFamily="34" charset="-122"/>
                <a:cs typeface="Inter" pitchFamily="34" charset="-120"/>
              </a:rPr>
              <a:t> Recurring expenses, internet dependency, user responsibility for OS.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91101"/>
            <a:ext cx="10372844" cy="708779"/>
          </a:xfrm>
          <a:prstGeom prst="rect">
            <a:avLst/>
          </a:prstGeom>
          <a:noFill/>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Comparative Analysis &amp; Case Studies</a:t>
            </a:r>
            <a:endParaRPr lang="en-US" sz="4450" dirty="0"/>
          </a:p>
        </p:txBody>
      </p:sp>
      <p:sp>
        <p:nvSpPr>
          <p:cNvPr id="3" name="Shape 1"/>
          <p:cNvSpPr/>
          <p:nvPr/>
        </p:nvSpPr>
        <p:spPr>
          <a:xfrm>
            <a:off x="793790" y="2353508"/>
            <a:ext cx="13042821" cy="1966198"/>
          </a:xfrm>
          <a:prstGeom prst="roundRect">
            <a:avLst>
              <a:gd name="adj" fmla="val 4845"/>
            </a:avLst>
          </a:prstGeom>
          <a:noFill/>
          <a:ln w="7620">
            <a:solidFill>
              <a:srgbClr val="000000">
                <a:alpha val="8000"/>
              </a:srgbClr>
            </a:solidFill>
            <a:prstDash val="solid"/>
          </a:ln>
        </p:spPr>
      </p:sp>
      <p:sp>
        <p:nvSpPr>
          <p:cNvPr id="4" name="Shape 2"/>
          <p:cNvSpPr/>
          <p:nvPr/>
        </p:nvSpPr>
        <p:spPr>
          <a:xfrm>
            <a:off x="801410" y="2361128"/>
            <a:ext cx="13027581" cy="650319"/>
          </a:xfrm>
          <a:prstGeom prst="rect">
            <a:avLst/>
          </a:prstGeom>
          <a:solidFill>
            <a:srgbClr val="FFFFFF">
              <a:alpha val="4000"/>
            </a:srgbClr>
          </a:solidFill>
        </p:spPr>
      </p:sp>
      <p:sp>
        <p:nvSpPr>
          <p:cNvPr id="5" name="Text 3"/>
          <p:cNvSpPr/>
          <p:nvPr/>
        </p:nvSpPr>
        <p:spPr>
          <a:xfrm>
            <a:off x="1028343" y="2504837"/>
            <a:ext cx="2148007" cy="362903"/>
          </a:xfrm>
          <a:prstGeom prst="rect">
            <a:avLst/>
          </a:prstGeom>
          <a:noFill/>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VM Creation</a:t>
            </a:r>
            <a:endParaRPr lang="en-US" sz="1750" dirty="0"/>
          </a:p>
        </p:txBody>
      </p:sp>
      <p:sp>
        <p:nvSpPr>
          <p:cNvPr id="6" name="Text 4"/>
          <p:cNvSpPr/>
          <p:nvPr/>
        </p:nvSpPr>
        <p:spPr>
          <a:xfrm>
            <a:off x="3637598" y="2504837"/>
            <a:ext cx="4749760" cy="362903"/>
          </a:xfrm>
          <a:prstGeom prst="rect">
            <a:avLst/>
          </a:prstGeom>
          <a:noFill/>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CLI-based; technical setup.</a:t>
            </a:r>
            <a:endParaRPr lang="en-US" sz="1750" dirty="0"/>
          </a:p>
        </p:txBody>
      </p:sp>
      <p:sp>
        <p:nvSpPr>
          <p:cNvPr id="7" name="Text 5"/>
          <p:cNvSpPr/>
          <p:nvPr/>
        </p:nvSpPr>
        <p:spPr>
          <a:xfrm>
            <a:off x="8848606" y="2504837"/>
            <a:ext cx="4753570" cy="362903"/>
          </a:xfrm>
          <a:prstGeom prst="rect">
            <a:avLst/>
          </a:prstGeom>
          <a:noFill/>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Cloud-based; easy portal/CLI.</a:t>
            </a:r>
            <a:endParaRPr lang="en-US" sz="1750" dirty="0"/>
          </a:p>
        </p:txBody>
      </p:sp>
      <p:sp>
        <p:nvSpPr>
          <p:cNvPr id="8" name="Shape 6"/>
          <p:cNvSpPr/>
          <p:nvPr/>
        </p:nvSpPr>
        <p:spPr>
          <a:xfrm>
            <a:off x="801410" y="3011448"/>
            <a:ext cx="13027581" cy="650319"/>
          </a:xfrm>
          <a:prstGeom prst="rect">
            <a:avLst/>
          </a:prstGeom>
          <a:solidFill>
            <a:srgbClr val="000000">
              <a:alpha val="4000"/>
            </a:srgbClr>
          </a:solidFill>
        </p:spPr>
      </p:sp>
      <p:sp>
        <p:nvSpPr>
          <p:cNvPr id="9" name="Text 7"/>
          <p:cNvSpPr/>
          <p:nvPr/>
        </p:nvSpPr>
        <p:spPr>
          <a:xfrm>
            <a:off x="1028343" y="3155156"/>
            <a:ext cx="2148007" cy="362903"/>
          </a:xfrm>
          <a:prstGeom prst="rect">
            <a:avLst/>
          </a:prstGeom>
          <a:noFill/>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Cost</a:t>
            </a:r>
            <a:endParaRPr lang="en-US" sz="1750" dirty="0"/>
          </a:p>
        </p:txBody>
      </p:sp>
      <p:sp>
        <p:nvSpPr>
          <p:cNvPr id="10" name="Text 8"/>
          <p:cNvSpPr/>
          <p:nvPr/>
        </p:nvSpPr>
        <p:spPr>
          <a:xfrm>
            <a:off x="3637598" y="3155156"/>
            <a:ext cx="4749760" cy="362903"/>
          </a:xfrm>
          <a:prstGeom prst="rect">
            <a:avLst/>
          </a:prstGeom>
          <a:noFill/>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Free, open-source.</a:t>
            </a:r>
            <a:endParaRPr lang="en-US" sz="1750" dirty="0"/>
          </a:p>
        </p:txBody>
      </p:sp>
      <p:sp>
        <p:nvSpPr>
          <p:cNvPr id="11" name="Text 9"/>
          <p:cNvSpPr/>
          <p:nvPr/>
        </p:nvSpPr>
        <p:spPr>
          <a:xfrm>
            <a:off x="8848606" y="3155156"/>
            <a:ext cx="4753570" cy="362903"/>
          </a:xfrm>
          <a:prstGeom prst="rect">
            <a:avLst/>
          </a:prstGeom>
          <a:noFill/>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Pay-as-you-go.</a:t>
            </a:r>
            <a:endParaRPr lang="en-US" sz="1750" dirty="0"/>
          </a:p>
        </p:txBody>
      </p:sp>
      <p:sp>
        <p:nvSpPr>
          <p:cNvPr id="12" name="Shape 10"/>
          <p:cNvSpPr/>
          <p:nvPr/>
        </p:nvSpPr>
        <p:spPr>
          <a:xfrm>
            <a:off x="801410" y="3661767"/>
            <a:ext cx="13027581" cy="650319"/>
          </a:xfrm>
          <a:prstGeom prst="rect">
            <a:avLst/>
          </a:prstGeom>
          <a:solidFill>
            <a:srgbClr val="FFFFFF">
              <a:alpha val="4000"/>
            </a:srgbClr>
          </a:solidFill>
        </p:spPr>
      </p:sp>
      <p:sp>
        <p:nvSpPr>
          <p:cNvPr id="13" name="Text 11"/>
          <p:cNvSpPr/>
          <p:nvPr/>
        </p:nvSpPr>
        <p:spPr>
          <a:xfrm>
            <a:off x="1028343" y="3805476"/>
            <a:ext cx="2148007" cy="362903"/>
          </a:xfrm>
          <a:prstGeom prst="rect">
            <a:avLst/>
          </a:prstGeom>
          <a:noFill/>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OS Compatibility</a:t>
            </a:r>
            <a:endParaRPr lang="en-US" sz="1750" dirty="0"/>
          </a:p>
        </p:txBody>
      </p:sp>
      <p:sp>
        <p:nvSpPr>
          <p:cNvPr id="14" name="Text 12"/>
          <p:cNvSpPr/>
          <p:nvPr/>
        </p:nvSpPr>
        <p:spPr>
          <a:xfrm>
            <a:off x="3637598" y="3805476"/>
            <a:ext cx="4749760" cy="362903"/>
          </a:xfrm>
          <a:prstGeom prst="rect">
            <a:avLst/>
          </a:prstGeom>
          <a:noFill/>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Many OSes (x86, ARM, RISC-V).</a:t>
            </a:r>
            <a:endParaRPr lang="en-US" sz="1750" dirty="0"/>
          </a:p>
        </p:txBody>
      </p:sp>
      <p:sp>
        <p:nvSpPr>
          <p:cNvPr id="15" name="Text 13"/>
          <p:cNvSpPr/>
          <p:nvPr/>
        </p:nvSpPr>
        <p:spPr>
          <a:xfrm>
            <a:off x="8848606" y="3805476"/>
            <a:ext cx="4753570" cy="362903"/>
          </a:xfrm>
          <a:prstGeom prst="rect">
            <a:avLst/>
          </a:prstGeom>
          <a:noFill/>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Windows/Linux (x86/x64).</a:t>
            </a:r>
            <a:endParaRPr lang="en-US" sz="1750" dirty="0"/>
          </a:p>
        </p:txBody>
      </p:sp>
      <p:sp>
        <p:nvSpPr>
          <p:cNvPr id="16" name="Text 14"/>
          <p:cNvSpPr/>
          <p:nvPr/>
        </p:nvSpPr>
        <p:spPr>
          <a:xfrm>
            <a:off x="793790" y="4801672"/>
            <a:ext cx="5823704" cy="354330"/>
          </a:xfrm>
          <a:prstGeom prst="rect">
            <a:avLst/>
          </a:prstGeom>
          <a:noFill/>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QEMU Case Study: University Department</a:t>
            </a:r>
            <a:endParaRPr lang="en-US" sz="2200" dirty="0"/>
          </a:p>
        </p:txBody>
      </p:sp>
      <p:sp>
        <p:nvSpPr>
          <p:cNvPr id="17" name="Text 15"/>
          <p:cNvSpPr/>
          <p:nvPr/>
        </p:nvSpPr>
        <p:spPr>
          <a:xfrm>
            <a:off x="793790" y="5382816"/>
            <a:ext cx="6244709" cy="1451610"/>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Adopted QEMU for OS/Embedded Systems teaching, saving 70% costs by simulating hardware. Enabled students to run experiments on personal laptops, improving safety and learning.</a:t>
            </a:r>
            <a:endParaRPr lang="en-US" sz="1750" dirty="0"/>
          </a:p>
        </p:txBody>
      </p:sp>
      <p:sp>
        <p:nvSpPr>
          <p:cNvPr id="18" name="Text 16"/>
          <p:cNvSpPr/>
          <p:nvPr/>
        </p:nvSpPr>
        <p:spPr>
          <a:xfrm>
            <a:off x="7599521" y="4801672"/>
            <a:ext cx="3562945" cy="354330"/>
          </a:xfrm>
          <a:prstGeom prst="rect">
            <a:avLst/>
          </a:prstGeom>
          <a:noFill/>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Azure Case Study: Finova</a:t>
            </a:r>
            <a:endParaRPr lang="en-US" sz="2200" dirty="0"/>
          </a:p>
        </p:txBody>
      </p:sp>
      <p:sp>
        <p:nvSpPr>
          <p:cNvPr id="19" name="Text 17"/>
          <p:cNvSpPr/>
          <p:nvPr/>
        </p:nvSpPr>
        <p:spPr>
          <a:xfrm>
            <a:off x="7599521" y="5382816"/>
            <a:ext cx="6244709" cy="1088708"/>
          </a:xfrm>
          <a:prstGeom prst="rect">
            <a:avLst/>
          </a:prstGeom>
          <a:noFill/>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Used Azure VMs for dev/testing, reducing costs by 70% with Spot VMs and automation. Maintained 98.5% reliability, improving scalability and operational efficiency.</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25210" y="862727"/>
            <a:ext cx="8182928" cy="647462"/>
          </a:xfrm>
          <a:prstGeom prst="rect">
            <a:avLst/>
          </a:prstGeom>
          <a:noFill/>
        </p:spPr>
        <p:txBody>
          <a:bodyPr wrap="none" lIns="0" tIns="0" rIns="0" bIns="0" rtlCol="0" anchor="t"/>
          <a:lstStyle/>
          <a:p>
            <a:pPr marL="0" indent="0" algn="l">
              <a:lnSpc>
                <a:spcPts val="5050"/>
              </a:lnSpc>
              <a:buNone/>
            </a:pPr>
            <a:r>
              <a:rPr lang="en-US" sz="4050" b="1" dirty="0">
                <a:solidFill>
                  <a:srgbClr val="000000"/>
                </a:solidFill>
                <a:latin typeface="Inter Bold" pitchFamily="34" charset="0"/>
                <a:ea typeface="Inter Bold" pitchFamily="34" charset="-122"/>
                <a:cs typeface="Inter Bold" pitchFamily="34" charset="-120"/>
              </a:rPr>
              <a:t>Conclusion &amp; Recommendations</a:t>
            </a:r>
            <a:endParaRPr lang="en-US" sz="4050" dirty="0"/>
          </a:p>
        </p:txBody>
      </p:sp>
      <p:sp>
        <p:nvSpPr>
          <p:cNvPr id="3" name="Text 1"/>
          <p:cNvSpPr/>
          <p:nvPr/>
        </p:nvSpPr>
        <p:spPr>
          <a:xfrm>
            <a:off x="725210" y="1924526"/>
            <a:ext cx="13179981" cy="662940"/>
          </a:xfrm>
          <a:prstGeom prst="rect">
            <a:avLst/>
          </a:prstGeom>
          <a:noFill/>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QEMU and Azure serve distinct purposes in virtualization. QEMU is ideal for personal use, learning, and experimentation, being free and local. Azure VMs are suited for organizations and enterprises needing scalability, reliability, and advanced cloud resources.</a:t>
            </a:r>
            <a:endParaRPr lang="en-US" sz="1600" dirty="0"/>
          </a:p>
        </p:txBody>
      </p:sp>
      <p:sp>
        <p:nvSpPr>
          <p:cNvPr id="4" name="Shape 2"/>
          <p:cNvSpPr/>
          <p:nvPr/>
        </p:nvSpPr>
        <p:spPr>
          <a:xfrm>
            <a:off x="725210" y="3131225"/>
            <a:ext cx="4255175" cy="1858804"/>
          </a:xfrm>
          <a:prstGeom prst="roundRect">
            <a:avLst>
              <a:gd name="adj" fmla="val 5903"/>
            </a:avLst>
          </a:prstGeom>
          <a:solidFill>
            <a:srgbClr val="FFFFFF"/>
          </a:solidFill>
        </p:spPr>
      </p:sp>
      <p:sp>
        <p:nvSpPr>
          <p:cNvPr id="5" name="Shape 3"/>
          <p:cNvSpPr/>
          <p:nvPr/>
        </p:nvSpPr>
        <p:spPr>
          <a:xfrm>
            <a:off x="725210" y="3108365"/>
            <a:ext cx="4255175" cy="91440"/>
          </a:xfrm>
          <a:prstGeom prst="roundRect">
            <a:avLst>
              <a:gd name="adj" fmla="val 95175"/>
            </a:avLst>
          </a:prstGeom>
          <a:solidFill>
            <a:srgbClr val="4950BC"/>
          </a:solidFill>
        </p:spPr>
      </p:sp>
      <p:sp>
        <p:nvSpPr>
          <p:cNvPr id="6" name="Shape 4"/>
          <p:cNvSpPr/>
          <p:nvPr/>
        </p:nvSpPr>
        <p:spPr>
          <a:xfrm>
            <a:off x="2541925" y="2820472"/>
            <a:ext cx="621625" cy="621625"/>
          </a:xfrm>
          <a:prstGeom prst="roundRect">
            <a:avLst>
              <a:gd name="adj" fmla="val 147098"/>
            </a:avLst>
          </a:prstGeom>
          <a:solidFill>
            <a:srgbClr val="4950BC"/>
          </a:solidFill>
        </p:spPr>
      </p:sp>
      <p:sp>
        <p:nvSpPr>
          <p:cNvPr id="7" name="Text 5"/>
          <p:cNvSpPr/>
          <p:nvPr/>
        </p:nvSpPr>
        <p:spPr>
          <a:xfrm>
            <a:off x="2728377" y="2975848"/>
            <a:ext cx="248602" cy="310753"/>
          </a:xfrm>
          <a:prstGeom prst="rect">
            <a:avLst/>
          </a:prstGeom>
          <a:noFill/>
        </p:spPr>
        <p:txBody>
          <a:bodyPr wrap="none" lIns="0" tIns="0" rIns="0" bIns="0" rtlCol="0" anchor="t"/>
          <a:lstStyle/>
          <a:p>
            <a:pPr marL="0" indent="0" algn="l">
              <a:lnSpc>
                <a:spcPts val="3100"/>
              </a:lnSpc>
              <a:buNone/>
            </a:pPr>
            <a:r>
              <a:rPr lang="en-US" sz="1950" b="1" dirty="0">
                <a:solidFill>
                  <a:srgbClr val="FFFFFF"/>
                </a:solidFill>
                <a:latin typeface="Inter Bold" pitchFamily="34" charset="0"/>
                <a:ea typeface="Inter Bold" pitchFamily="34" charset="-122"/>
                <a:cs typeface="Inter Bold" pitchFamily="34" charset="-120"/>
              </a:rPr>
              <a:t>1</a:t>
            </a:r>
            <a:endParaRPr lang="en-US" sz="1950" dirty="0"/>
          </a:p>
        </p:txBody>
      </p:sp>
      <p:sp>
        <p:nvSpPr>
          <p:cNvPr id="8" name="Text 6"/>
          <p:cNvSpPr/>
          <p:nvPr/>
        </p:nvSpPr>
        <p:spPr>
          <a:xfrm>
            <a:off x="955238" y="3649147"/>
            <a:ext cx="2725579" cy="323612"/>
          </a:xfrm>
          <a:prstGeom prst="rect">
            <a:avLst/>
          </a:prstGeom>
          <a:noFill/>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Students &amp; Beginners</a:t>
            </a:r>
            <a:endParaRPr lang="en-US" sz="2000" dirty="0"/>
          </a:p>
        </p:txBody>
      </p:sp>
      <p:sp>
        <p:nvSpPr>
          <p:cNvPr id="9" name="Text 7"/>
          <p:cNvSpPr/>
          <p:nvPr/>
        </p:nvSpPr>
        <p:spPr>
          <a:xfrm>
            <a:off x="955238" y="4097060"/>
            <a:ext cx="3795117" cy="662940"/>
          </a:xfrm>
          <a:prstGeom prst="rect">
            <a:avLst/>
          </a:prstGeom>
          <a:noFill/>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Use QEMU for hands-on OS and networking experience.</a:t>
            </a:r>
            <a:endParaRPr lang="en-US" sz="1600" dirty="0"/>
          </a:p>
        </p:txBody>
      </p:sp>
      <p:sp>
        <p:nvSpPr>
          <p:cNvPr id="10" name="Shape 8"/>
          <p:cNvSpPr/>
          <p:nvPr/>
        </p:nvSpPr>
        <p:spPr>
          <a:xfrm>
            <a:off x="5187553" y="3131225"/>
            <a:ext cx="4255175" cy="1858804"/>
          </a:xfrm>
          <a:prstGeom prst="roundRect">
            <a:avLst>
              <a:gd name="adj" fmla="val 5903"/>
            </a:avLst>
          </a:prstGeom>
          <a:solidFill>
            <a:srgbClr val="FFFFFF"/>
          </a:solidFill>
        </p:spPr>
      </p:sp>
      <p:sp>
        <p:nvSpPr>
          <p:cNvPr id="11" name="Shape 9"/>
          <p:cNvSpPr/>
          <p:nvPr/>
        </p:nvSpPr>
        <p:spPr>
          <a:xfrm>
            <a:off x="5187553" y="3108365"/>
            <a:ext cx="4255175" cy="91440"/>
          </a:xfrm>
          <a:prstGeom prst="roundRect">
            <a:avLst>
              <a:gd name="adj" fmla="val 95175"/>
            </a:avLst>
          </a:prstGeom>
          <a:solidFill>
            <a:srgbClr val="4950BC"/>
          </a:solidFill>
        </p:spPr>
      </p:sp>
      <p:sp>
        <p:nvSpPr>
          <p:cNvPr id="12" name="Shape 10"/>
          <p:cNvSpPr/>
          <p:nvPr/>
        </p:nvSpPr>
        <p:spPr>
          <a:xfrm>
            <a:off x="7004268" y="2820472"/>
            <a:ext cx="621625" cy="621625"/>
          </a:xfrm>
          <a:prstGeom prst="roundRect">
            <a:avLst>
              <a:gd name="adj" fmla="val 147098"/>
            </a:avLst>
          </a:prstGeom>
          <a:solidFill>
            <a:srgbClr val="4950BC"/>
          </a:solidFill>
        </p:spPr>
      </p:sp>
      <p:sp>
        <p:nvSpPr>
          <p:cNvPr id="13" name="Text 11"/>
          <p:cNvSpPr/>
          <p:nvPr/>
        </p:nvSpPr>
        <p:spPr>
          <a:xfrm>
            <a:off x="7190720" y="2975848"/>
            <a:ext cx="248602" cy="310753"/>
          </a:xfrm>
          <a:prstGeom prst="rect">
            <a:avLst/>
          </a:prstGeom>
          <a:noFill/>
        </p:spPr>
        <p:txBody>
          <a:bodyPr wrap="none" lIns="0" tIns="0" rIns="0" bIns="0" rtlCol="0" anchor="t"/>
          <a:lstStyle/>
          <a:p>
            <a:pPr marL="0" indent="0" algn="l">
              <a:lnSpc>
                <a:spcPts val="3100"/>
              </a:lnSpc>
              <a:buNone/>
            </a:pPr>
            <a:r>
              <a:rPr lang="en-US" sz="1950" b="1" dirty="0">
                <a:solidFill>
                  <a:srgbClr val="FFFFFF"/>
                </a:solidFill>
                <a:latin typeface="Inter Bold" pitchFamily="34" charset="0"/>
                <a:ea typeface="Inter Bold" pitchFamily="34" charset="-122"/>
                <a:cs typeface="Inter Bold" pitchFamily="34" charset="-120"/>
              </a:rPr>
              <a:t>2</a:t>
            </a:r>
            <a:endParaRPr lang="en-US" sz="1950" dirty="0"/>
          </a:p>
        </p:txBody>
      </p:sp>
      <p:sp>
        <p:nvSpPr>
          <p:cNvPr id="14" name="Text 12"/>
          <p:cNvSpPr/>
          <p:nvPr/>
        </p:nvSpPr>
        <p:spPr>
          <a:xfrm>
            <a:off x="5417582" y="3649147"/>
            <a:ext cx="2984063" cy="323612"/>
          </a:xfrm>
          <a:prstGeom prst="rect">
            <a:avLst/>
          </a:prstGeom>
          <a:noFill/>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Educational Institutions</a:t>
            </a:r>
            <a:endParaRPr lang="en-US" sz="2000" dirty="0"/>
          </a:p>
        </p:txBody>
      </p:sp>
      <p:sp>
        <p:nvSpPr>
          <p:cNvPr id="15" name="Text 13"/>
          <p:cNvSpPr/>
          <p:nvPr/>
        </p:nvSpPr>
        <p:spPr>
          <a:xfrm>
            <a:off x="5417582" y="4097060"/>
            <a:ext cx="3795117" cy="662940"/>
          </a:xfrm>
          <a:prstGeom prst="rect">
            <a:avLst/>
          </a:prstGeom>
          <a:noFill/>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Combine QEMU for local practice and Azure for scalable online labs.</a:t>
            </a:r>
            <a:endParaRPr lang="en-US" sz="1600" dirty="0"/>
          </a:p>
        </p:txBody>
      </p:sp>
      <p:sp>
        <p:nvSpPr>
          <p:cNvPr id="16" name="Shape 14"/>
          <p:cNvSpPr/>
          <p:nvPr/>
        </p:nvSpPr>
        <p:spPr>
          <a:xfrm>
            <a:off x="9649897" y="3131225"/>
            <a:ext cx="4255294" cy="1858804"/>
          </a:xfrm>
          <a:prstGeom prst="roundRect">
            <a:avLst>
              <a:gd name="adj" fmla="val 5903"/>
            </a:avLst>
          </a:prstGeom>
          <a:solidFill>
            <a:srgbClr val="FFFFFF"/>
          </a:solidFill>
        </p:spPr>
      </p:sp>
      <p:sp>
        <p:nvSpPr>
          <p:cNvPr id="17" name="Shape 15"/>
          <p:cNvSpPr/>
          <p:nvPr/>
        </p:nvSpPr>
        <p:spPr>
          <a:xfrm>
            <a:off x="9649897" y="3108365"/>
            <a:ext cx="4255294" cy="91440"/>
          </a:xfrm>
          <a:prstGeom prst="roundRect">
            <a:avLst>
              <a:gd name="adj" fmla="val 95175"/>
            </a:avLst>
          </a:prstGeom>
          <a:solidFill>
            <a:srgbClr val="4950BC"/>
          </a:solidFill>
        </p:spPr>
      </p:sp>
      <p:sp>
        <p:nvSpPr>
          <p:cNvPr id="18" name="Shape 16"/>
          <p:cNvSpPr/>
          <p:nvPr/>
        </p:nvSpPr>
        <p:spPr>
          <a:xfrm>
            <a:off x="11466731" y="2820472"/>
            <a:ext cx="621625" cy="621625"/>
          </a:xfrm>
          <a:prstGeom prst="roundRect">
            <a:avLst>
              <a:gd name="adj" fmla="val 147098"/>
            </a:avLst>
          </a:prstGeom>
          <a:solidFill>
            <a:srgbClr val="4950BC"/>
          </a:solidFill>
        </p:spPr>
      </p:sp>
      <p:sp>
        <p:nvSpPr>
          <p:cNvPr id="19" name="Text 17"/>
          <p:cNvSpPr/>
          <p:nvPr/>
        </p:nvSpPr>
        <p:spPr>
          <a:xfrm>
            <a:off x="11653183" y="2975848"/>
            <a:ext cx="248602" cy="310753"/>
          </a:xfrm>
          <a:prstGeom prst="rect">
            <a:avLst/>
          </a:prstGeom>
          <a:noFill/>
        </p:spPr>
        <p:txBody>
          <a:bodyPr wrap="none" lIns="0" tIns="0" rIns="0" bIns="0" rtlCol="0" anchor="t"/>
          <a:lstStyle/>
          <a:p>
            <a:pPr marL="0" indent="0" algn="l">
              <a:lnSpc>
                <a:spcPts val="3100"/>
              </a:lnSpc>
              <a:buNone/>
            </a:pPr>
            <a:r>
              <a:rPr lang="en-US" sz="1950" b="1" dirty="0">
                <a:solidFill>
                  <a:srgbClr val="FFFFFF"/>
                </a:solidFill>
                <a:latin typeface="Inter Bold" pitchFamily="34" charset="0"/>
                <a:ea typeface="Inter Bold" pitchFamily="34" charset="-122"/>
                <a:cs typeface="Inter Bold" pitchFamily="34" charset="-120"/>
              </a:rPr>
              <a:t>3</a:t>
            </a:r>
            <a:endParaRPr lang="en-US" sz="1950" dirty="0"/>
          </a:p>
        </p:txBody>
      </p:sp>
      <p:sp>
        <p:nvSpPr>
          <p:cNvPr id="20" name="Text 18"/>
          <p:cNvSpPr/>
          <p:nvPr/>
        </p:nvSpPr>
        <p:spPr>
          <a:xfrm>
            <a:off x="9879925" y="3649147"/>
            <a:ext cx="3522107" cy="323612"/>
          </a:xfrm>
          <a:prstGeom prst="rect">
            <a:avLst/>
          </a:prstGeom>
          <a:noFill/>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Businesses &amp; Organizations</a:t>
            </a:r>
            <a:endParaRPr lang="en-US" sz="2000" dirty="0"/>
          </a:p>
        </p:txBody>
      </p:sp>
      <p:sp>
        <p:nvSpPr>
          <p:cNvPr id="21" name="Text 19"/>
          <p:cNvSpPr/>
          <p:nvPr/>
        </p:nvSpPr>
        <p:spPr>
          <a:xfrm>
            <a:off x="9879925" y="4097060"/>
            <a:ext cx="3795236" cy="662940"/>
          </a:xfrm>
          <a:prstGeom prst="rect">
            <a:avLst/>
          </a:prstGeom>
          <a:noFill/>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Invest in Azure VMs for critical applications and cloud infrastructure.</a:t>
            </a:r>
            <a:endParaRPr lang="en-US" sz="1600" dirty="0"/>
          </a:p>
        </p:txBody>
      </p:sp>
      <p:sp>
        <p:nvSpPr>
          <p:cNvPr id="22" name="Shape 20"/>
          <p:cNvSpPr/>
          <p:nvPr/>
        </p:nvSpPr>
        <p:spPr>
          <a:xfrm>
            <a:off x="725210" y="5507950"/>
            <a:ext cx="6486406" cy="1858804"/>
          </a:xfrm>
          <a:prstGeom prst="roundRect">
            <a:avLst>
              <a:gd name="adj" fmla="val 5903"/>
            </a:avLst>
          </a:prstGeom>
          <a:solidFill>
            <a:srgbClr val="FFFFFF"/>
          </a:solidFill>
        </p:spPr>
      </p:sp>
      <p:sp>
        <p:nvSpPr>
          <p:cNvPr id="23" name="Shape 21"/>
          <p:cNvSpPr/>
          <p:nvPr/>
        </p:nvSpPr>
        <p:spPr>
          <a:xfrm>
            <a:off x="725210" y="5485090"/>
            <a:ext cx="6486406" cy="91440"/>
          </a:xfrm>
          <a:prstGeom prst="roundRect">
            <a:avLst>
              <a:gd name="adj" fmla="val 95175"/>
            </a:avLst>
          </a:prstGeom>
          <a:solidFill>
            <a:srgbClr val="4950BC"/>
          </a:solidFill>
        </p:spPr>
      </p:sp>
      <p:sp>
        <p:nvSpPr>
          <p:cNvPr id="24" name="Shape 22"/>
          <p:cNvSpPr/>
          <p:nvPr/>
        </p:nvSpPr>
        <p:spPr>
          <a:xfrm>
            <a:off x="3657540" y="5197197"/>
            <a:ext cx="621625" cy="621625"/>
          </a:xfrm>
          <a:prstGeom prst="roundRect">
            <a:avLst>
              <a:gd name="adj" fmla="val 147098"/>
            </a:avLst>
          </a:prstGeom>
          <a:solidFill>
            <a:srgbClr val="4950BC"/>
          </a:solidFill>
        </p:spPr>
      </p:sp>
      <p:sp>
        <p:nvSpPr>
          <p:cNvPr id="25" name="Text 23"/>
          <p:cNvSpPr/>
          <p:nvPr/>
        </p:nvSpPr>
        <p:spPr>
          <a:xfrm>
            <a:off x="3843992" y="5352574"/>
            <a:ext cx="248602" cy="310753"/>
          </a:xfrm>
          <a:prstGeom prst="rect">
            <a:avLst/>
          </a:prstGeom>
          <a:noFill/>
        </p:spPr>
        <p:txBody>
          <a:bodyPr wrap="none" lIns="0" tIns="0" rIns="0" bIns="0" rtlCol="0" anchor="t"/>
          <a:lstStyle/>
          <a:p>
            <a:pPr marL="0" indent="0" algn="l">
              <a:lnSpc>
                <a:spcPts val="3100"/>
              </a:lnSpc>
              <a:buNone/>
            </a:pPr>
            <a:r>
              <a:rPr lang="en-US" sz="1950" b="1" dirty="0">
                <a:solidFill>
                  <a:srgbClr val="FFFFFF"/>
                </a:solidFill>
                <a:latin typeface="Inter Bold" pitchFamily="34" charset="0"/>
                <a:ea typeface="Inter Bold" pitchFamily="34" charset="-122"/>
                <a:cs typeface="Inter Bold" pitchFamily="34" charset="-120"/>
              </a:rPr>
              <a:t>4</a:t>
            </a:r>
            <a:endParaRPr lang="en-US" sz="1950" dirty="0"/>
          </a:p>
        </p:txBody>
      </p:sp>
      <p:sp>
        <p:nvSpPr>
          <p:cNvPr id="26" name="Text 24"/>
          <p:cNvSpPr/>
          <p:nvPr/>
        </p:nvSpPr>
        <p:spPr>
          <a:xfrm>
            <a:off x="955238" y="6025872"/>
            <a:ext cx="3326011" cy="323612"/>
          </a:xfrm>
          <a:prstGeom prst="rect">
            <a:avLst/>
          </a:prstGeom>
          <a:noFill/>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Researchers &amp; Developers</a:t>
            </a:r>
            <a:endParaRPr lang="en-US" sz="2000" dirty="0"/>
          </a:p>
        </p:txBody>
      </p:sp>
      <p:sp>
        <p:nvSpPr>
          <p:cNvPr id="27" name="Text 25"/>
          <p:cNvSpPr/>
          <p:nvPr/>
        </p:nvSpPr>
        <p:spPr>
          <a:xfrm>
            <a:off x="955238" y="6473785"/>
            <a:ext cx="6026348" cy="331470"/>
          </a:xfrm>
          <a:prstGeom prst="rect">
            <a:avLst/>
          </a:prstGeom>
          <a:noFill/>
        </p:spPr>
        <p:txBody>
          <a:bodyPr wrap="non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Use Azure for heavy computations, QEMU for local testing.</a:t>
            </a:r>
            <a:endParaRPr lang="en-US" sz="1600" dirty="0"/>
          </a:p>
        </p:txBody>
      </p:sp>
      <p:sp>
        <p:nvSpPr>
          <p:cNvPr id="28" name="Shape 26"/>
          <p:cNvSpPr/>
          <p:nvPr/>
        </p:nvSpPr>
        <p:spPr>
          <a:xfrm>
            <a:off x="7418784" y="5507950"/>
            <a:ext cx="6486406" cy="1858804"/>
          </a:xfrm>
          <a:prstGeom prst="roundRect">
            <a:avLst>
              <a:gd name="adj" fmla="val 5903"/>
            </a:avLst>
          </a:prstGeom>
          <a:solidFill>
            <a:srgbClr val="FFFFFF"/>
          </a:solidFill>
        </p:spPr>
      </p:sp>
      <p:sp>
        <p:nvSpPr>
          <p:cNvPr id="29" name="Shape 27"/>
          <p:cNvSpPr/>
          <p:nvPr/>
        </p:nvSpPr>
        <p:spPr>
          <a:xfrm>
            <a:off x="7418784" y="5485090"/>
            <a:ext cx="6486406" cy="91440"/>
          </a:xfrm>
          <a:prstGeom prst="roundRect">
            <a:avLst>
              <a:gd name="adj" fmla="val 95175"/>
            </a:avLst>
          </a:prstGeom>
          <a:solidFill>
            <a:srgbClr val="4950BC"/>
          </a:solidFill>
        </p:spPr>
      </p:sp>
      <p:sp>
        <p:nvSpPr>
          <p:cNvPr id="30" name="Shape 28"/>
          <p:cNvSpPr/>
          <p:nvPr/>
        </p:nvSpPr>
        <p:spPr>
          <a:xfrm>
            <a:off x="10351115" y="5197197"/>
            <a:ext cx="621625" cy="621625"/>
          </a:xfrm>
          <a:prstGeom prst="roundRect">
            <a:avLst>
              <a:gd name="adj" fmla="val 147098"/>
            </a:avLst>
          </a:prstGeom>
          <a:solidFill>
            <a:srgbClr val="4950BC"/>
          </a:solidFill>
        </p:spPr>
      </p:sp>
      <p:sp>
        <p:nvSpPr>
          <p:cNvPr id="31" name="Text 29"/>
          <p:cNvSpPr/>
          <p:nvPr/>
        </p:nvSpPr>
        <p:spPr>
          <a:xfrm>
            <a:off x="10537567" y="5352574"/>
            <a:ext cx="248602" cy="310753"/>
          </a:xfrm>
          <a:prstGeom prst="rect">
            <a:avLst/>
          </a:prstGeom>
          <a:noFill/>
        </p:spPr>
        <p:txBody>
          <a:bodyPr wrap="none" lIns="0" tIns="0" rIns="0" bIns="0" rtlCol="0" anchor="t"/>
          <a:lstStyle/>
          <a:p>
            <a:pPr marL="0" indent="0" algn="l">
              <a:lnSpc>
                <a:spcPts val="3100"/>
              </a:lnSpc>
              <a:buNone/>
            </a:pPr>
            <a:r>
              <a:rPr lang="en-US" sz="1950" b="1" dirty="0">
                <a:solidFill>
                  <a:srgbClr val="FFFFFF"/>
                </a:solidFill>
                <a:latin typeface="Inter Bold" pitchFamily="34" charset="0"/>
                <a:ea typeface="Inter Bold" pitchFamily="34" charset="-122"/>
                <a:cs typeface="Inter Bold" pitchFamily="34" charset="-120"/>
              </a:rPr>
              <a:t>5</a:t>
            </a:r>
            <a:endParaRPr lang="en-US" sz="1950" dirty="0"/>
          </a:p>
        </p:txBody>
      </p:sp>
      <p:sp>
        <p:nvSpPr>
          <p:cNvPr id="32" name="Text 30"/>
          <p:cNvSpPr/>
          <p:nvPr/>
        </p:nvSpPr>
        <p:spPr>
          <a:xfrm>
            <a:off x="7648813" y="6025872"/>
            <a:ext cx="2590086" cy="323612"/>
          </a:xfrm>
          <a:prstGeom prst="rect">
            <a:avLst/>
          </a:prstGeom>
          <a:noFill/>
        </p:spPr>
        <p:txBody>
          <a:bodyPr wrap="none" lIns="0" tIns="0" rIns="0" bIns="0" rtlCol="0" anchor="t"/>
          <a:lstStyle/>
          <a:p>
            <a:pPr marL="0" indent="0" algn="l">
              <a:lnSpc>
                <a:spcPts val="2500"/>
              </a:lnSpc>
              <a:buNone/>
            </a:pPr>
            <a:r>
              <a:rPr lang="en-US" sz="2000" b="1" dirty="0">
                <a:solidFill>
                  <a:srgbClr val="272525"/>
                </a:solidFill>
                <a:latin typeface="Inter Bold" pitchFamily="34" charset="0"/>
                <a:ea typeface="Inter Bold" pitchFamily="34" charset="-122"/>
                <a:cs typeface="Inter Bold" pitchFamily="34" charset="-120"/>
              </a:rPr>
              <a:t>Cost Management</a:t>
            </a:r>
            <a:endParaRPr lang="en-US" sz="2000" dirty="0"/>
          </a:p>
        </p:txBody>
      </p:sp>
      <p:sp>
        <p:nvSpPr>
          <p:cNvPr id="33" name="Text 31"/>
          <p:cNvSpPr/>
          <p:nvPr/>
        </p:nvSpPr>
        <p:spPr>
          <a:xfrm>
            <a:off x="7648813" y="6473785"/>
            <a:ext cx="6026348" cy="662940"/>
          </a:xfrm>
          <a:prstGeom prst="rect">
            <a:avLst/>
          </a:prstGeom>
          <a:noFill/>
        </p:spPr>
        <p:txBody>
          <a:bodyPr wrap="square" lIns="0" tIns="0" rIns="0" bIns="0" rtlCol="0" anchor="t"/>
          <a:lstStyle/>
          <a:p>
            <a:pPr marL="0" indent="0" algn="l">
              <a:lnSpc>
                <a:spcPts val="2600"/>
              </a:lnSpc>
              <a:buNone/>
            </a:pPr>
            <a:r>
              <a:rPr lang="en-US" sz="1600" dirty="0">
                <a:solidFill>
                  <a:srgbClr val="272525"/>
                </a:solidFill>
                <a:latin typeface="Inter" pitchFamily="34" charset="0"/>
                <a:ea typeface="Inter" pitchFamily="34" charset="-122"/>
                <a:cs typeface="Inter" pitchFamily="34" charset="-120"/>
              </a:rPr>
              <a:t>Implement monitoring for Azure VM usage to optimize expenses.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2841</Words>
  <Application>WPS Presentation</Application>
  <PresentationFormat>On-screen Show (16:9)</PresentationFormat>
  <Paragraphs>100</Paragraphs>
  <Slides>5</Slides>
  <Notes>5</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5</vt:i4>
      </vt:variant>
    </vt:vector>
  </HeadingPairs>
  <TitlesOfParts>
    <vt:vector size="20" baseType="lpstr">
      <vt:lpstr>Arial</vt:lpstr>
      <vt:lpstr>SimSun</vt:lpstr>
      <vt:lpstr>Wingdings</vt:lpstr>
      <vt:lpstr>Inter Bold</vt:lpstr>
      <vt:lpstr>Segoe Print</vt:lpstr>
      <vt:lpstr>Inter Bold</vt:lpstr>
      <vt:lpstr>Inter Bold</vt:lpstr>
      <vt:lpstr>Inter</vt:lpstr>
      <vt:lpstr>Inter</vt:lpstr>
      <vt:lpstr>Inter</vt:lpstr>
      <vt:lpstr>Calibri</vt:lpstr>
      <vt:lpstr>Microsoft YaHei</vt:lpstr>
      <vt:lpstr>Arial Unicode MS</vt:lpstr>
      <vt:lpstr>MingLiU-ExtB</vt:lpstr>
      <vt:lpstr>Office Theme</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JUSTIN VON VERGARA</cp:lastModifiedBy>
  <cp:revision>2</cp:revision>
  <dcterms:created xsi:type="dcterms:W3CDTF">2025-09-12T12:03:00Z</dcterms:created>
  <dcterms:modified xsi:type="dcterms:W3CDTF">2025-09-12T12:04:24Z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7E2199AAB19E4070B219B03E07ABA0B7_13</vt:lpwstr>
  </property>
  <property fmtid="{D5CDD505-2E9C-101B-9397-08002B2CF9AE}" pid="3" name="KSOProductBuildVer">
    <vt:lpwstr>1033-12.2.0.22549</vt:lpwstr>
  </property>
</Properties>
</file>